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LFM：基于深度代理模型与主动学习的螺旋桨气动优化全栈系统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LFM 项目组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研究背景与目标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问题陈述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电动无人机续航瓶颈：</a:t>
                </a:r>
              </a:p>
              <a:p>
                <a:pPr lvl="0"/>
                <a:r>
                  <a:rPr/>
                  <a:t>单位距离能耗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elec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t>V</m:t>
                    </m:r>
                  </m:oMath>
                </a14:m>
                <a:r>
                  <a:rPr/>
                  <a:t> 取决于螺旋桨气动效率</a:t>
                </a:r>
              </a:p>
              <a:p>
                <a:pPr lvl="0"/>
                <a:r>
                  <a:rPr/>
                  <a:t>传统设计依赖经验公式 + 单点 CFD</a:t>
                </a:r>
              </a:p>
              <a:p>
                <a:pPr lvl="0"/>
                <a:r>
                  <a:rPr/>
                  <a:t>设计空间高维 (44 截面 chord/twist)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本文目标：</a:t>
            </a:r>
          </a:p>
          <a:p>
            <a:pPr lvl="0" indent="0" marL="0">
              <a:buNone/>
            </a:pPr>
            <a:r>
              <a:rPr/>
              <a:t>构建一套</a:t>
            </a:r>
            <a:r>
              <a:rPr b="1"/>
              <a:t>全栈闭环</a:t>
            </a:r>
            <a:r>
              <a:rPr/>
              <a:t>系统：</a:t>
            </a:r>
          </a:p>
          <a:p>
            <a:pPr lvl="0" indent="-342900" marL="342900">
              <a:buAutoNum type="arabicPeriod"/>
            </a:pPr>
            <a:r>
              <a:rPr/>
              <a:t>高保真仿真数据生成 (QBlade LLFVW)</a:t>
            </a:r>
          </a:p>
          <a:p>
            <a:pPr lvl="0" indent="-342900" marL="342900">
              <a:buAutoNum type="arabicPeriod"/>
            </a:pPr>
            <a:r>
              <a:rPr/>
              <a:t>不确定度感知代理模型 (MoE)</a:t>
            </a:r>
          </a:p>
          <a:p>
            <a:pPr lvl="0" indent="-342900" marL="342900">
              <a:buAutoNum type="arabicPeriod"/>
            </a:pPr>
            <a:r>
              <a:rPr/>
              <a:t>配平约束优化 (CMA-ES)</a:t>
            </a:r>
          </a:p>
          <a:p>
            <a:pPr lvl="0" indent="-342900" marL="342900">
              <a:buAutoNum type="arabicPeriod"/>
            </a:pPr>
            <a:r>
              <a:rPr/>
              <a:t>主动学习闭环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系统总览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LFM 四阶段管线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[数据生成] → [代理模型] → [优化求解] → [验证迭代]
  QBlade       DNN/MoE      CMA-ES/PPO     主动学习
   ↑                                            │
   └────────────────  σ 触发  ─────────────────┘</a:t>
                </a:r>
              </a:p>
              <a:p>
                <a:pPr lvl="0"/>
                <a:r>
                  <a:rPr b="1"/>
                  <a:t>阶段①</a:t>
                </a:r>
                <a:r>
                  <a:rPr/>
                  <a:t>：1000 几何 × 42 工况 = 42,000 样本</a:t>
                </a:r>
              </a:p>
              <a:p>
                <a:pPr lvl="0"/>
                <a:r>
                  <a:rPr b="1"/>
                  <a:t>阶段②</a:t>
                </a:r>
                <a:r>
                  <a:rPr/>
                  <a:t>：V1 MLP → V2 Mixture-of-Experts (UQ)</a:t>
                </a:r>
              </a:p>
              <a:p>
                <a:pPr lvl="0"/>
                <a:r>
                  <a:rPr b="1"/>
                  <a:t>阶段③</a:t>
                </a:r>
                <a:r>
                  <a:rPr/>
                  <a:t>：min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elec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t>V</m:t>
                    </m:r>
                  </m:oMath>
                </a14:m>
                <a:r>
                  <a:rPr/>
                  <a:t> s.t. 配平 + 几何约束</a:t>
                </a:r>
              </a:p>
              <a:p>
                <a:pPr lvl="0"/>
                <a:r>
                  <a:rPr b="1"/>
                  <a:t>阶段④</a:t>
                </a:r>
                <a:r>
                  <a:rPr/>
                  <a:t>：QBlade 回验，高 σ 区域补样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几何参数化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 控制点 B 样条降维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降维</a:t>
                </a:r>
                <a:r>
                  <a:rPr/>
                  <a:t>：44 维 → 8 维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chord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3</m:t>
                          </m:r>
                        </m:sup>
                        <m:e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3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acc>
                        <m:accPr>
                          <m:chr m:val="‾"/>
                        </m:accPr>
                        <m:e>
                          <m:r>
                            <m:t>r</m:t>
                          </m:r>
                        </m:e>
                      </m:acc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degree=3 B 样条</a:t>
                </a:r>
              </a:p>
              <a:p>
                <a:pPr lvl="0"/>
                <a:r>
                  <a:rPr/>
                  <a:t>4 chord CP + 4 twist CP</a:t>
                </a:r>
              </a:p>
              <a:p>
                <a:pPr lvl="0"/>
                <a:r>
                  <a:rPr/>
                  <a:t>节点向量针对桨尖优化分辨率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Knot 向量：</a:t>
                </a:r>
              </a:p>
              <a:p>
                <a:pPr lvl="0"/>
                <a:r>
                  <a:rPr/>
                  <a:t>chord: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0.40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0.90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a:p>
              <a:p>
                <a:pPr lvl="0"/>
                <a:r>
                  <a:rPr/>
                  <a:t>twist: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0.20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0.90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优势：</a:t>
                </a:r>
              </a:p>
              <a:p>
                <a:pPr lvl="0"/>
                <a:r>
                  <a:rPr/>
                  <a:t>几何光顺，可制造</a:t>
                </a:r>
              </a:p>
              <a:p>
                <a:pPr lvl="0"/>
                <a:r>
                  <a:rPr/>
                  <a:t>设计空间显著降维</a:t>
                </a:r>
              </a:p>
              <a:p>
                <a:pPr lvl="0"/>
                <a:r>
                  <a:rPr/>
                  <a:t>CMA-ES 可在 8 维高效搜索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数据生成 (LHS + QBlade)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采样策略</a:t>
            </a:r>
          </a:p>
          <a:p>
            <a:pPr lvl="0"/>
            <a:r>
              <a:rPr b="1"/>
              <a:t>LHS</a:t>
            </a:r>
            <a:r>
              <a:rPr/>
              <a:t>：scipy.stats.qmc.LatinHypercube, d=8, seed=42</a:t>
            </a:r>
          </a:p>
          <a:p>
            <a:pPr lvl="0"/>
            <a:r>
              <a:rPr b="1"/>
              <a:t>范围</a:t>
            </a:r>
            <a:r>
              <a:rPr/>
              <a:t>：baseline ±30%</a:t>
            </a:r>
          </a:p>
          <a:p>
            <a:pPr lvl="0"/>
            <a:r>
              <a:rPr b="1"/>
              <a:t>过滤</a:t>
            </a:r>
            <a:r>
              <a:rPr/>
              <a:t>：chord∈[2,50]mm, twist∈[5°,70°]</a:t>
            </a:r>
          </a:p>
          <a:p>
            <a:pPr lvl="0"/>
            <a:r>
              <a:rPr b="1"/>
              <a:t>有效率</a:t>
            </a:r>
            <a:r>
              <a:rPr/>
              <a:t>：982/1000 + 1 baseline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QBlade LLFVW 仿真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取值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求解器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Lifting-Line Free Vortex Wake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步数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1200 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尾迹长度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ZONE1=2, ZONE2=4, ZONE3=6 (~12.5 圈)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最后 120 步均值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工况数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RPM × 7 ANGLE = 42 / 几何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多进程并行架构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隔离方案</a:t>
            </a:r>
          </a:p>
          <a:p>
            <a:pPr lvl="0" indent="0" marL="0">
              <a:buNone/>
            </a:pPr>
            <a:r>
              <a:rPr b="1"/>
              <a:t>问题</a:t>
            </a:r>
            <a:r>
              <a:rPr/>
              <a:t>：QBlade .so 有进程级全局状态，同进程多次实例化导致几何修改失效</a:t>
            </a:r>
          </a:p>
          <a:p>
            <a:pPr lvl="0" indent="0" marL="0">
              <a:buNone/>
            </a:pPr>
            <a:r>
              <a:rPr b="1"/>
              <a:t>解决方案</a:t>
            </a:r>
            <a:r>
              <a:rPr/>
              <a:t>：multiprocessing.fork + tmpfs 工作树</a:t>
            </a:r>
          </a:p>
          <a:p>
            <a:pPr lvl="0" indent="0">
              <a:buNone/>
            </a:pPr>
            <a:r>
              <a:rPr>
                <a:latin typeface="Courier"/>
              </a:rPr>
              <a:t>每 worker 进程：
  /tmp/lfm_w&lt;pid&gt;/
    ├── code/           深拷贝
    ├── QBlade_data/    深拷贝 (写入隔离)
    └── QBladeCE/       软链接 (只读共享)
  os.chdir → 独立工作目录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性能基准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Workers × 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总线程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单几何 (200步)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单几何 (1200步)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× 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2046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~12,276 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 ×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~340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~2,040 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生产配置 D：1000 几何 ≈ 57 天 (壁钟)</a:t>
            </a:r>
          </a:p>
        </p:txBody>
      </p:sp>
    </p:spTree>
  </p:cSld>
</p:sld>
</file>

<file path=ppt/slides/slide1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6. 代理模型 V1：MLP DNN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架构</a:t></a:r></a:p><a:p><a:pPr lvl="0" /><a:r><a:rPr b="1" /><a:t>输入</a:t></a:r><a:r><a:rPr /><a:t>：47 维 = 3 工况 + 44 几何</a:t></a:r></a:p><a:p><a:pPr lvl="0" /><a:r><a:rPr b="1" /><a:t>网络</a:t></a:r><a:r><a:rPr /><a:t>：</a:t></a:r><a:r><a:rPr><a:latin typeface="Courier" /></a:rPr><a:t>[64, 128, 64]</a:t></a:r><a:r><a:rPr /><a:t> MLP</a:t></a:r></a:p><a:p><a:pPr lvl="0" /><a:r><a:rPr b="1" /><a:t>激活</a:t></a:r><a:r><a:rPr /><a:t>：BatchNorm + ReLU</a:t></a:r></a:p><a:p><a:pPr lvl="0" /><a:r><a:rPr b="1" /><a:t>正则</a:t></a:r><a:r><a:rPr /><a:t>：Dropout (第 3 层后)</a:t></a:r></a:p><a:p><a:pPr lvl="0" /><a:r><a:rPr b="1" /><a:t>输出</a:t></a:r><a:r><a:rPr /><a:t>：4 维 </a:t></a:r><a14:m><m:oMath xmlns:m="http://schemas.openxmlformats.org/officeDocument/2006/math"><m:r><m:rPr><m:sty m:val="p" /></m:rPr><m:t>[</m:t></m:r><m:sSub><m:e><m:r><m:t>F</m:t></m:r></m:e><m:sub><m:r><m:t>x</m:t></m:r></m:sub></m:sSub><m:r><m:rPr><m:sty m:val="p" /></m:rPr><m:t>,</m:t></m:r><m:sSub><m:e><m:r><m:t>F</m:t></m:r></m:e><m:sub><m:r><m:t>y</m:t></m:r></m:sub></m:sSub><m:r><m:rPr><m:sty m:val="p" /></m:rPr><m:t>,</m:t></m:r><m:sSub><m:e><m:r><m:t>F</m:t></m:r></m:e><m:sub><m:r><m:t>z</m:t></m:r></m:sub></m:sSub><m:r><m:rPr><m:sty m:val="p" /></m:rPr><m:t>,</m:t></m:r><m:r><m:t>Q</m:t></m:r><m:r><m:rPr><m:sty m:val="p" /></m:rPr><m:t>]</m:t></m:r></m:oMath></a14:m></a:p><a:p><a:pPr lvl="0" indent="0" marL="0"><a:spcBef><a:spcPts val="3000" /></a:spcBef><a:buNone /></a:pPr><a:r><a:rPr b="1" /><a:t>V1 测试集表现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:r><a:rPr /><a:t>输出</a:t></a:r></a:p></a:txBody><a:tcPr /></a:tc><a:tc><a:txBody><a:bodyPr /><a:lstStyle /><a:p><a:pPr lvl="0" indent="0" marL="0"><a:buNone /></a:pPr><a:r><a:rPr /><a:t>MAPE</a:t></a:r></a:p></a:txBody><a:tcPr /></a:tc><a:tc><a:txBody><a:bodyPr /><a:lstStyle /><a:p><a:pPr lvl="0" indent="0" marL="0"><a:buNone /></a:pPr><a14:m><m:oMath xmlns:m="http://schemas.openxmlformats.org/officeDocument/2006/math"><m:sSup><m:e><m:r><m:t>R</m:t></m:r></m:e><m:sup><m:r><m:t>2</m:t></m:r></m:sup></m:sSup></m:oMath></a14:m></a:p></a:txBody><a:tcPr /></a:tc></a:tr><a:tr h="0"><a:tc><a:txBody><a:bodyPr /><a:lstStyle /><a:p><a:pPr lvl="0" indent="0" marL="0"><a:buNone /></a:pPr><a14:m><m:oMath xmlns:m="http://schemas.openxmlformats.org/officeDocument/2006/math"><m:sSub><m:e><m:r><m:t>F</m:t></m:r></m:e><m:sub><m:r><m:t>x</m:t></m:r></m:sub></m:sSub></m:oMath></a14:m></a:p></a:txBody></a:tc><a:tc><a:txBody><a:bodyPr /><a:lstStyle /><a:p><a:pPr lvl="0" indent="0" marL="0"><a:buNone /></a:pPr><a:r><a:rPr /><a:t>4.2%</a:t></a:r></a:p></a:txBody></a:tc><a:tc><a:txBody><a:bodyPr /><a:lstStyle /><a:p><a:pPr lvl="0" indent="0" marL="0"><a:buNone /></a:pPr><a:r><a:rPr /><a:t>0.972</a:t></a:r></a:p></a:txBody></a:tc></a:tr><a:tr h="0"><a:tc><a:txBody><a:bodyPr /><a:lstStyle /><a:p><a:pPr lvl="0" indent="0" marL="0"><a:buNone /></a:pPr><a14:m><m:oMath xmlns:m="http://schemas.openxmlformats.org/officeDocument/2006/math"><m:sSub><m:e><m:r><m:t>F</m:t></m:r></m:e><m:sub><m:r><m:t>z</m:t></m:r></m:sub></m:sSub></m:oMath></a14:m></a:p></a:txBody></a:tc><a:tc><a:txBody><a:bodyPr /><a:lstStyle /><a:p><a:pPr lvl="0" indent="0" marL="0"><a:buNone /></a:pPr><a:r><a:rPr /><a:t>4.8%</a:t></a:r></a:p></a:txBody></a:tc><a:tc><a:txBody><a:bodyPr /><a:lstStyle /><a:p><a:pPr lvl="0" indent="0" marL="0"><a:buNone /></a:pPr><a:r><a:rPr /><a:t>0.965</a:t></a:r></a:p></a:txBody></a:tc></a:tr><a:tr h="0"><a:tc><a:txBody><a:bodyPr /><a:lstStyle /><a:p><a:pPr lvl="0" indent="0" marL="0"><a:buNone /></a:pPr><a14:m><m:oMath xmlns:m="http://schemas.openxmlformats.org/officeDocument/2006/math"><m:r><m:t>Q</m:t></m:r></m:oMath></a14:m></a:p></a:txBody></a:tc><a:tc><a:txBody><a:bodyPr /><a:lstStyle /><a:p><a:pPr lvl="0" indent="0" marL="0"><a:buNone /></a:pPr><a:r><a:rPr /><a:t>3.9%</a:t></a:r></a:p></a:txBody></a:tc><a:tc><a:txBody><a:bodyPr /><a:lstStyle /><a:p><a:pPr lvl="0" indent="0" marL="0"><a:buNone /></a:pPr><a:r><a:rPr /><a:t>0.978</a:t></a:r></a:p></a:txBody></a:tc></a:tr><a:tr h="0"><a:tc><a:txBody><a:bodyPr /><a:lstStyle /><a:p><a:pPr lvl="0" indent="0" marL="0"><a:buNone /></a:pPr><a14:m><m:oMath xmlns:m="http://schemas.openxmlformats.org/officeDocument/2006/math"><m:sSub><m:e><m:r><m:t>F</m:t></m:r></m:e><m:sub><m:r><m:t>y</m:t></m:r></m:sub></m:sSub></m:oMath></a14:m></a:p></a:txBody></a:tc><a:tc><a:txBody><a:bodyPr /><a:lstStyle /><a:p><a:pPr lvl="0" indent="0" marL="0"><a:buNone /></a:pPr><a:r><a:rPr /><a:t>32.1%</a:t></a:r></a:p></a:txBody></a:tc><a:tc><a:txBody><a:bodyPr /><a:lstStyle /><a:p><a:pPr lvl="0" indent="0" marL="0"><a:buNone /></a:pPr><a:r><a:rPr /><a:t>0.41 (舍弃)</a:t></a:r></a:p></a:txBody></a:tc></a:tr></a:tbl></a:graphicData></a:graphic></p:graphicFrame></p:spTree></p:cSld>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代理模型 V2：Mixture-of-Experts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MoE 架构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x ──[SharedEncoder 47→64]──→ h
                              │
                  ┌───────────┼───────────┐
                  ↓           ↓           ↓
              Gating π    Expert_1    Expert_K
                          [μ, log σ]  [μ, log σ]
                              │           │
                              └───→ 混合 ←─┘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异方差预测</a:t>
                </a:r>
              </a:p>
              <a:p>
                <a:pPr lvl="0" indent="0" marL="0">
                  <a:buNone/>
                </a:pPr>
                <a:r>
                  <a:rPr/>
                  <a:t>混合方差公式：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  <m:e>
                          <m:sSub>
                            <m:e>
                              <m:r>
                                <m:t>π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sSubSup>
                        <m:e>
                          <m:r>
                            <m:t>σ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sSubSup>
                        <m:e>
                          <m:r>
                            <m:t>μ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t>μ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损失</a:t>
                </a:r>
                <a:r>
                  <a:rPr/>
                  <a:t>：异方差 NLL + 门控熵 + 专家均衡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优化求解器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前飞配平约束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sin</m:t>
                          </m:r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H</m:t>
                          </m:r>
                          <m:r>
                            <m:rPr>
                              <m:sty m:val="p"/>
                            </m:rPr>
                            <m:t>cos</m:t>
                          </m:r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fuse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  <m:e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z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cos</m:t>
                          </m:r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H</m:t>
                          </m:r>
                          <m:r>
                            <m:rPr>
                              <m:sty m:val="p"/>
                            </m:rPr>
                            <m:t>sin</m:t>
                          </m:r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m</m:t>
                          </m:r>
                          <m:r>
                            <m:t>g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L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fuse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  <m:e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fuse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eqAr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未知量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m:t>Ω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m:t>Ω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，scipy.optimize.root 多初值收敛率 100%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CMA-ES 目标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b"/>
                            </m:rPr>
                            <m:t>c</m:t>
                          </m:r>
                          <m:r>
                            <m:rPr>
                              <m:sty m:val="b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m:t>elec</m:t>
                                  </m:r>
                                </m:sub>
                              </m:sSub>
                            </m:num>
                            <m:den>
                              <m:r>
                                <m:t>V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R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U</m:t>
                              </m:r>
                            </m:sub>
                          </m:sSub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G</m:t>
                              </m:r>
                            </m:sub>
                          </m:sSub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geo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elec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Ω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Ω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η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motor·esc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归一化空间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8</m:t>
                        </m:r>
                      </m:sup>
                    </m:sSup>
                  </m:oMath>
                </a14:m>
                <a:r>
                  <a:rPr/>
                  <a:t>，popsize=16, maxiter=200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数据驱动硬约束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外推风险</a:t>
                </a:r>
              </a:p>
              <a:p>
                <a:pPr lvl="0" indent="0" marL="0">
                  <a:buNone/>
                </a:pPr>
                <a:r>
                  <a:rPr/>
                  <a:t>V1-V3 宽约束实验：</a:t>
                </a:r>
              </a:p>
              <a:p>
                <a:pPr lvl="0"/>
                <a:r>
                  <a:rPr/>
                  <a:t>CMA-ES 收敛至 </a:t>
                </a:r>
                <a:r>
                  <a:rPr b="1"/>
                  <a:t>FM=1.004 (虚假最优)</a:t>
                </a:r>
              </a:p>
              <a:p>
                <a:pPr lvl="0"/>
                <a:r>
                  <a:rPr/>
                  <a:t>22/22 几何 OOD</a:t>
                </a:r>
              </a:p>
              <a:p>
                <a:pPr lvl="0"/>
                <a:r>
                  <a:rPr/>
                  <a:t>物理不可行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V4 解决方案</a:t>
                </a:r>
              </a:p>
              <a:p>
                <a:pPr lvl="0" indent="0" marL="0">
                  <a:buNone/>
                </a:pPr>
                <a:r>
                  <a:rPr/>
                  <a:t>数据驱动约束 + 5% 边距：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CP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</m:rPr>
                        <m:t>[</m:t>
                      </m:r>
                      <m:sSubSup>
                        <m:e>
                          <m:r>
                            <m:rPr>
                              <m:nor/>
                              <m:sty m:val="p"/>
                            </m:rPr>
                            <m:t>CP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sty m:val="p"/>
                            </m:rPr>
                            <m:t>min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data</m:t>
                          </m:r>
                        </m:sup>
                      </m:sSubSup>
                      <m:r>
                        <m:rPr>
                          <m:sty m:val="p"/>
                        </m:rPr>
                        <m:t>⋅</m:t>
                      </m:r>
                      <m:r>
                        <m:t>0.95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 </m:t>
                      </m:r>
                      <m:sSubSup>
                        <m:e>
                          <m:r>
                            <m:rPr>
                              <m:nor/>
                              <m:sty m:val="p"/>
                            </m:rPr>
                            <m:t>CP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sty m:val="p"/>
                            </m:rPr>
                            <m:t>max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data</m:t>
                          </m:r>
                        </m:sup>
                      </m:sSubSup>
                      <m:r>
                        <m:rPr>
                          <m:sty m:val="p"/>
                        </m:rPr>
                        <m:t>⋅</m:t>
                      </m:r>
                      <m:r>
                        <m:t>1.05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收敛结果：FM=0.947, OOD=0/22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主动学习闭环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触发机制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┌──────────────────────┐
            │  CMA-ES 搜索 cp*    │
            └──────────┬───────────┘
                       │
                  MoE(cp*) → (μ, σ)
                       │
              σ &gt; σ_max? ──Y─→ 候选采样
                       │       │
                       N       ▼
                       │   导出 CSV
                       │       │
                       ▼       ▼
                 接受最优解   QBlade 仿真
                            │
                            ▼
                       新数据 → 重训 MoE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关键性能指标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数据层</a:t>
            </a:r>
            <a:r>
              <a:rPr/>
              <a:t>：</a:t>
            </a:r>
          </a:p>
          <a:p>
            <a:pPr lvl="0"/>
            <a:r>
              <a:rPr/>
              <a:t>1,000 几何</a:t>
            </a:r>
          </a:p>
          <a:p>
            <a:pPr lvl="0"/>
            <a:r>
              <a:rPr/>
              <a:t>42 工况/几何</a:t>
            </a:r>
          </a:p>
          <a:p>
            <a:pPr lvl="0"/>
            <a:r>
              <a:rPr/>
              <a:t>42,000 样本</a:t>
            </a:r>
          </a:p>
          <a:p>
            <a:pPr lvl="0"/>
            <a:r>
              <a:rPr/>
              <a:t>1200 步仿真</a:t>
            </a:r>
          </a:p>
          <a:p>
            <a:pPr lvl="0" indent="0" marL="0">
              <a:buNone/>
            </a:pPr>
            <a:r>
              <a:rPr b="1"/>
              <a:t>计算层</a:t>
            </a:r>
            <a:r>
              <a:rPr/>
              <a:t>：</a:t>
            </a:r>
          </a:p>
          <a:p>
            <a:pPr lvl="0"/>
            <a:r>
              <a:rPr/>
              <a:t>6 workers × 4 OMP</a:t>
            </a:r>
          </a:p>
          <a:p>
            <a:pPr lvl="0"/>
            <a:r>
              <a:rPr/>
              <a:t>24 线程并行</a:t>
            </a:r>
          </a:p>
          <a:p>
            <a:pPr lvl="0"/>
            <a:r>
              <a:rPr/>
              <a:t>~4.1 step/s (CPU)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模型层</a:t>
                </a:r>
                <a:r>
                  <a:rPr/>
                  <a:t>：</a:t>
                </a:r>
              </a:p>
              <a:p>
                <a:pPr lvl="0"/>
                <a:r>
                  <a:rPr/>
                  <a:t>MAPE &lt; 5% (主输出)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&gt; 0.96</a:t>
                </a:r>
              </a:p>
              <a:p>
                <a:pPr lvl="0"/>
                <a:r>
                  <a:rPr/>
                  <a:t>σ 不确定度量化</a:t>
                </a:r>
              </a:p>
              <a:p>
                <a:pPr lvl="0" indent="0" marL="0">
                  <a:buNone/>
                </a:pPr>
                <a:r>
                  <a:rPr b="1"/>
                  <a:t>优化层</a:t>
                </a:r>
                <a:r>
                  <a:rPr/>
                  <a:t>：</a:t>
                </a:r>
              </a:p>
              <a:p>
                <a:pPr lvl="0"/>
                <a:r>
                  <a:rPr/>
                  <a:t>FM: 0.852 → </a:t>
                </a:r>
                <a:r>
                  <a:rPr b="1"/>
                  <a:t>0.947</a:t>
                </a:r>
                <a:r>
                  <a:rPr/>
                  <a:t> (+11.1%)</a:t>
                </a:r>
              </a:p>
              <a:p>
                <a:pPr lvl="0"/>
                <a:r>
                  <a:rPr/>
                  <a:t>OOD: 22/22 → </a:t>
                </a:r>
                <a:r>
                  <a:rPr b="1"/>
                  <a:t>0/22</a:t>
                </a:r>
              </a:p>
              <a:p>
                <a:pPr lvl="0"/>
                <a:r>
                  <a:rPr/>
                  <a:t>配平收敛率: </a:t>
                </a:r>
                <a:r>
                  <a:rPr b="1"/>
                  <a:t>100%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技术创新点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异方差 MoE 代理模型</a:t>
                </a:r>
                <a:r>
                  <a:rPr/>
                  <a:t>：同时输出预测均值与不确定度，支持主动学习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B 样条降维</a:t>
                </a:r>
                <a:r>
                  <a:rPr/>
                  <a:t>：44 → 8 维设计空间，保证几何光顺与可制造性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数据驱动硬约束</a:t>
                </a:r>
                <a:r>
                  <a:rPr/>
                  <a:t>：CP_BOUNDS_DATA 消除 DNN 外推虚假最优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多进程 QBlade 隔离</a:t>
                </a:r>
                <a:r>
                  <a:rPr/>
                  <a:t>：规避 .so 全局状态污染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前飞配平约束</a:t>
                </a:r>
                <a:r>
                  <a:rPr/>
                  <a:t>：以 min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elec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t>V</m:t>
                    </m:r>
                  </m:oMath>
                </a14:m>
                <a:r>
                  <a:rPr/>
                  <a:t> 替代纯 FM 最大化，符合实际续航任务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局限与未来工作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当前局限</a:t>
            </a:r>
          </a:p>
          <a:p>
            <a:pPr lvl="0"/>
            <a:r>
              <a:rPr/>
              <a:t>单风速 (Wind=10 m/s)</a:t>
            </a:r>
          </a:p>
          <a:p>
            <a:pPr lvl="0"/>
            <a:r>
              <a:rPr/>
              <a:t>1000 几何生产耗时 ~57 天</a:t>
            </a:r>
          </a:p>
          <a:p>
            <a:pPr lvl="0"/>
            <a:r>
              <a:rPr/>
              <a:t>MoE 需 100,000+ 样本验证扩展性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未来方向</a:t>
            </a:r>
          </a:p>
          <a:p>
            <a:pPr lvl="0"/>
            <a:r>
              <a:rPr b="1"/>
              <a:t>多速度联合优化</a:t>
            </a:r>
            <a:r>
              <a:rPr/>
              <a:t>：V ∈ [6, 12] m/s</a:t>
            </a:r>
          </a:p>
          <a:p>
            <a:pPr lvl="0"/>
            <a:r>
              <a:rPr b="1"/>
              <a:t>GPU 加速 QBlade</a:t>
            </a:r>
            <a:r>
              <a:rPr/>
              <a:t>：解决 .so OpenCL 死锁</a:t>
            </a:r>
          </a:p>
          <a:p>
            <a:pPr lvl="0"/>
            <a:r>
              <a:rPr b="1"/>
              <a:t>物理增强 MoE</a:t>
            </a:r>
            <a:r>
              <a:rPr/>
              <a:t>：嵌入 momentum/blade-element 先验</a:t>
            </a:r>
          </a:p>
          <a:p>
            <a:pPr lvl="0"/>
            <a:r>
              <a:rPr b="1"/>
              <a:t>多目标优化</a:t>
            </a:r>
            <a:r>
              <a:rPr/>
              <a:t>：续航 + 噪声 + 制造成本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贡献：</a:t>
            </a:r>
          </a:p>
          <a:p>
            <a:pPr lvl="0"/>
            <a:r>
              <a:rPr/>
              <a:t>端到端可复现框架</a:t>
            </a:r>
          </a:p>
          <a:p>
            <a:pPr lvl="0"/>
            <a:r>
              <a:rPr/>
              <a:t>MoE + UQ 代理模型</a:t>
            </a:r>
          </a:p>
          <a:p>
            <a:pPr lvl="0"/>
            <a:r>
              <a:rPr/>
              <a:t>数据驱动硬约束</a:t>
            </a:r>
          </a:p>
          <a:p>
            <a:pPr lvl="0"/>
            <a:r>
              <a:rPr/>
              <a:t>主动学习闭环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成果：</a:t>
            </a:r>
          </a:p>
          <a:p>
            <a:pPr lvl="0"/>
            <a:r>
              <a:rPr/>
              <a:t>FM 提升 </a:t>
            </a:r>
            <a:r>
              <a:rPr b="1"/>
              <a:t>+11.1%</a:t>
            </a:r>
          </a:p>
          <a:p>
            <a:pPr lvl="0"/>
            <a:r>
              <a:rPr/>
              <a:t>OOD 率 </a:t>
            </a:r>
            <a:r>
              <a:rPr b="1"/>
              <a:t>0/22</a:t>
            </a:r>
          </a:p>
          <a:p>
            <a:pPr lvl="0"/>
            <a:r>
              <a:rPr/>
              <a:t>配平收敛率 </a:t>
            </a:r>
            <a:r>
              <a:rPr b="1"/>
              <a:t>100%</a:t>
            </a:r>
          </a:p>
          <a:p>
            <a:pPr lvl="0"/>
            <a:r>
              <a:rPr/>
              <a:t>1000 几何数据集 (生产中)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LFM 为电动无人机续航优化提供系统化方法论与工具链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致谢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QBlade 开源团队 | PyTorch | stable-baselines3 | scipy | CMA-ES 社区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Marten, D. </a:t>
            </a:r>
            <a:r>
              <a:rPr i="1"/>
              <a:t>QBlade: HAWT/VAWT Simulation</a:t>
            </a:r>
            <a:r>
              <a:rPr/>
              <a:t>, 2020.</a:t>
            </a:r>
          </a:p>
          <a:p>
            <a:pPr lvl="0" indent="-342900" marL="342900">
              <a:buAutoNum type="arabicPeriod"/>
            </a:pPr>
            <a:r>
              <a:rPr/>
              <a:t>Lakshminarayanan, B. </a:t>
            </a:r>
            <a:r>
              <a:rPr i="1"/>
              <a:t>Deep Ensembles for UQ</a:t>
            </a:r>
            <a:r>
              <a:rPr/>
              <a:t>, NeurIPS 2017.</a:t>
            </a:r>
          </a:p>
          <a:p>
            <a:pPr lvl="0" indent="-342900" marL="342900">
              <a:buAutoNum type="arabicPeriod"/>
            </a:pPr>
            <a:r>
              <a:rPr/>
              <a:t>Hansen, N. </a:t>
            </a:r>
            <a:r>
              <a:rPr i="1"/>
              <a:t>CMA Evolution Strategy</a:t>
            </a:r>
            <a:r>
              <a:rPr/>
              <a:t>, arXiv:1604.00772.</a:t>
            </a:r>
          </a:p>
          <a:p>
            <a:pPr lvl="0" indent="-342900" marL="342900">
              <a:buAutoNum type="arabicPeriod"/>
            </a:pPr>
            <a:r>
              <a:rPr/>
              <a:t>Schulman, J. </a:t>
            </a:r>
            <a:r>
              <a:rPr i="1"/>
              <a:t>PPO Algorithms</a:t>
            </a:r>
            <a:r>
              <a:rPr/>
              <a:t>, arXiv:1707.06347.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LFM：基于深度代理模型与主动学习的螺旋桨气动优化全栈系统</dc:title>
  <dc:creator>LFM 项目组</dc:creator>
  <cp:keywords/>
  <dcterms:created xsi:type="dcterms:W3CDTF">2026-06-02T18:36:08Z</dcterms:created>
  <dcterms:modified xsi:type="dcterms:W3CDTF">2026-06-02T18:36:08Z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lortheme">
    <vt:lpwstr>seahorse</vt:lpwstr>
  </property>
  <property fmtid="{D5CDD505-2E9C-101B-9397-08002B2CF9AE}" pid="3" name="date">
    <vt:lpwstr>2026-06-03</vt:lpwstr>
  </property>
  <property fmtid="{D5CDD505-2E9C-101B-9397-08002B2CF9AE}" pid="4" name="theme">
    <vt:lpwstr>metropolis</vt:lpwstr>
  </property>
</Properties>
</file>